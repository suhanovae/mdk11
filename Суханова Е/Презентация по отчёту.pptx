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6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C97E3-DE6E-43A2-AFB0-DDFD29F48C90}" type="datetimeFigureOut">
              <a:rPr lang="ru-RU" smtClean="0"/>
              <a:t>21.05.2022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44A44-43B7-4C1F-BAF1-E33F0E2B7FF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3251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C97E3-DE6E-43A2-AFB0-DDFD29F48C90}" type="datetimeFigureOut">
              <a:rPr lang="ru-RU" smtClean="0"/>
              <a:t>21.05.2022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44A44-43B7-4C1F-BAF1-E33F0E2B7FF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33319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C97E3-DE6E-43A2-AFB0-DDFD29F48C90}" type="datetimeFigureOut">
              <a:rPr lang="ru-RU" smtClean="0"/>
              <a:t>21.05.2022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44A44-43B7-4C1F-BAF1-E33F0E2B7FF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1724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C97E3-DE6E-43A2-AFB0-DDFD29F48C90}" type="datetimeFigureOut">
              <a:rPr lang="ru-RU" smtClean="0"/>
              <a:t>21.05.2022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44A44-43B7-4C1F-BAF1-E33F0E2B7FF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706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C97E3-DE6E-43A2-AFB0-DDFD29F48C90}" type="datetimeFigureOut">
              <a:rPr lang="ru-RU" smtClean="0"/>
              <a:t>21.05.2022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44A44-43B7-4C1F-BAF1-E33F0E2B7FF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897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C97E3-DE6E-43A2-AFB0-DDFD29F48C90}" type="datetimeFigureOut">
              <a:rPr lang="ru-RU" smtClean="0"/>
              <a:t>21.05.2022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44A44-43B7-4C1F-BAF1-E33F0E2B7FF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4846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C97E3-DE6E-43A2-AFB0-DDFD29F48C90}" type="datetimeFigureOut">
              <a:rPr lang="ru-RU" smtClean="0"/>
              <a:t>21.05.2022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44A44-43B7-4C1F-BAF1-E33F0E2B7FF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2354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C97E3-DE6E-43A2-AFB0-DDFD29F48C90}" type="datetimeFigureOut">
              <a:rPr lang="ru-RU" smtClean="0"/>
              <a:t>21.05.2022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44A44-43B7-4C1F-BAF1-E33F0E2B7FF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58935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C97E3-DE6E-43A2-AFB0-DDFD29F48C90}" type="datetimeFigureOut">
              <a:rPr lang="ru-RU" smtClean="0"/>
              <a:t>21.05.2022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44A44-43B7-4C1F-BAF1-E33F0E2B7FF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39005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C97E3-DE6E-43A2-AFB0-DDFD29F48C90}" type="datetimeFigureOut">
              <a:rPr lang="ru-RU" smtClean="0"/>
              <a:t>21.05.2022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44A44-43B7-4C1F-BAF1-E33F0E2B7FF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5469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C97E3-DE6E-43A2-AFB0-DDFD29F48C90}" type="datetimeFigureOut">
              <a:rPr lang="ru-RU" smtClean="0"/>
              <a:t>21.05.2022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44A44-43B7-4C1F-BAF1-E33F0E2B7FF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1895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C97E3-DE6E-43A2-AFB0-DDFD29F48C90}" type="datetimeFigureOut">
              <a:rPr lang="ru-RU" smtClean="0"/>
              <a:t>21.05.2022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44A44-43B7-4C1F-BAF1-E33F0E2B7FF8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961568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C97E3-DE6E-43A2-AFB0-DDFD29F48C90}" type="datetimeFigureOut">
              <a:rPr lang="ru-RU" smtClean="0"/>
              <a:t>21.05.2022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44A44-43B7-4C1F-BAF1-E33F0E2B7FF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1865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C97E3-DE6E-43A2-AFB0-DDFD29F48C90}" type="datetimeFigureOut">
              <a:rPr lang="ru-RU" smtClean="0"/>
              <a:t>21.05.2022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44A44-43B7-4C1F-BAF1-E33F0E2B7FF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13075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C97E3-DE6E-43A2-AFB0-DDFD29F48C90}" type="datetimeFigureOut">
              <a:rPr lang="ru-RU" smtClean="0"/>
              <a:t>21.05.2022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44A44-43B7-4C1F-BAF1-E33F0E2B7FF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82008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C97E3-DE6E-43A2-AFB0-DDFD29F48C90}" type="datetimeFigureOut">
              <a:rPr lang="ru-RU" smtClean="0"/>
              <a:t>21.05.2022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44A44-43B7-4C1F-BAF1-E33F0E2B7FF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69578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C97E3-DE6E-43A2-AFB0-DDFD29F48C90}" type="datetimeFigureOut">
              <a:rPr lang="ru-RU" smtClean="0"/>
              <a:t>21.05.2022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44A44-43B7-4C1F-BAF1-E33F0E2B7FF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0688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7A6C97E3-DE6E-43A2-AFB0-DDFD29F48C90}" type="datetimeFigureOut">
              <a:rPr lang="ru-RU" smtClean="0"/>
              <a:t>21.05.2022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D7444A44-43B7-4C1F-BAF1-E33F0E2B7FF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92628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698657" y="4633452"/>
            <a:ext cx="3696059" cy="1371599"/>
          </a:xfrm>
        </p:spPr>
        <p:txBody>
          <a:bodyPr>
            <a:normAutofit fontScale="77500" lnSpcReduction="20000"/>
          </a:bodyPr>
          <a:lstStyle/>
          <a:p>
            <a:r>
              <a:rPr lang="ru-RU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Выполнила:</a:t>
            </a:r>
          </a:p>
          <a:p>
            <a:r>
              <a:rPr lang="ru-RU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Студентка группы ИСП.20А</a:t>
            </a:r>
          </a:p>
          <a:p>
            <a:r>
              <a:rPr lang="ru-RU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Суханова Екатерина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222090" y="353961"/>
            <a:ext cx="7128387" cy="16813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585884" y="1877961"/>
            <a:ext cx="7246374" cy="21532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Итоговый проект на тему:</a:t>
            </a:r>
            <a:br>
              <a:rPr lang="ru-RU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«Моделирование бизнес-процессов гостиницы»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612490" y="609600"/>
            <a:ext cx="8681884" cy="1002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Ликино-Дулёвский политехнический колледж – филиал ГГТУ </a:t>
            </a:r>
          </a:p>
        </p:txBody>
      </p:sp>
    </p:spTree>
    <p:extLst>
      <p:ext uri="{BB962C8B-B14F-4D97-AF65-F5344CB8AC3E}">
        <p14:creationId xmlns:p14="http://schemas.microsoft.com/office/powerpoint/2010/main" val="353699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C:\Users\ekate\OneDrive\Рабочий стол\домашка\МДК 11\uml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5549" y="1809135"/>
            <a:ext cx="6843252" cy="429669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Прямоугольник 4"/>
          <p:cNvSpPr/>
          <p:nvPr/>
        </p:nvSpPr>
        <p:spPr>
          <a:xfrm>
            <a:off x="2269066" y="474584"/>
            <a:ext cx="7907867" cy="11906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технология </a:t>
            </a: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UML</a:t>
            </a:r>
            <a:r>
              <a:rPr 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по варианту</a:t>
            </a:r>
            <a:endParaRPr lang="ru-RU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8740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узк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831" y="3057832"/>
            <a:ext cx="5569011" cy="1702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2269066" y="474584"/>
            <a:ext cx="7907867" cy="11906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технология </a:t>
            </a: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UML</a:t>
            </a:r>
            <a:r>
              <a:rPr 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по своей БД</a:t>
            </a:r>
            <a:endParaRPr lang="ru-RU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3134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746" y="2212259"/>
            <a:ext cx="10404510" cy="2724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4056658" y="918110"/>
            <a:ext cx="33346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диаграмма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3242958983"/>
      </p:ext>
    </p:extLst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/>
          <a:srcRect t="331"/>
          <a:stretch/>
        </p:blipFill>
        <p:spPr>
          <a:xfrm>
            <a:off x="773168" y="1126155"/>
            <a:ext cx="10398614" cy="5611527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2865481" y="342268"/>
            <a:ext cx="6213987" cy="255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Структурный анализ</a:t>
            </a:r>
          </a:p>
        </p:txBody>
      </p:sp>
    </p:spTree>
    <p:extLst>
      <p:ext uri="{BB962C8B-B14F-4D97-AF65-F5344CB8AC3E}">
        <p14:creationId xmlns:p14="http://schemas.microsoft.com/office/powerpoint/2010/main" val="22142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/>
          <p:cNvSpPr/>
          <p:nvPr/>
        </p:nvSpPr>
        <p:spPr>
          <a:xfrm>
            <a:off x="4032985" y="365760"/>
            <a:ext cx="2993457" cy="9529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4032985" y="519764"/>
            <a:ext cx="4340993" cy="12705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Контекстная диаграмма </a:t>
            </a: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IDEF()</a:t>
            </a:r>
            <a:endParaRPr lang="ru-RU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DEF(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5193" y="2249157"/>
            <a:ext cx="4156576" cy="3158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8043708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4032985" y="519764"/>
            <a:ext cx="4340993" cy="12705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Декомпозиция</a:t>
            </a:r>
          </a:p>
        </p:txBody>
      </p:sp>
      <p:pic>
        <p:nvPicPr>
          <p:cNvPr id="3074" name="Picture 2" descr="детализация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949" y="1540042"/>
            <a:ext cx="8071063" cy="398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9670268"/>
      </p:ext>
    </p:extLst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032985" y="519764"/>
            <a:ext cx="4340993" cy="12705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DFD</a:t>
            </a:r>
            <a:endParaRPr lang="ru-RU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3415011" y="1790299"/>
            <a:ext cx="5576939" cy="443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52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649323" y="2355667"/>
            <a:ext cx="883144" cy="2766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НФ:</a:t>
            </a:r>
            <a:endParaRPr lang="ru-RU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122022" y="691830"/>
            <a:ext cx="4340993" cy="10091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Нормализация данных </a:t>
            </a:r>
            <a:endParaRPr lang="ru-RU" sz="6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/>
          <a:srcRect t="1186"/>
          <a:stretch/>
        </p:blipFill>
        <p:spPr>
          <a:xfrm>
            <a:off x="310536" y="3033398"/>
            <a:ext cx="11700387" cy="2154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102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1258" y="796412"/>
            <a:ext cx="974020" cy="468221"/>
          </a:xfrm>
        </p:spPr>
        <p:txBody>
          <a:bodyPr/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2НФ: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l="170" t="759"/>
          <a:stretch/>
        </p:blipFill>
        <p:spPr>
          <a:xfrm>
            <a:off x="5924211" y="1513419"/>
            <a:ext cx="6066195" cy="1622323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9850277" y="1137029"/>
            <a:ext cx="2067965" cy="2838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«Гости»</a:t>
            </a: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428827"/>
              </p:ext>
            </p:extLst>
          </p:nvPr>
        </p:nvGraphicFramePr>
        <p:xfrm>
          <a:off x="8170727" y="3649679"/>
          <a:ext cx="304800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492">
                  <a:extLst>
                    <a:ext uri="{9D8B030D-6E8A-4147-A177-3AD203B41FA5}">
                      <a16:colId xmlns:a16="http://schemas.microsoft.com/office/drawing/2014/main" val="2185402465"/>
                    </a:ext>
                  </a:extLst>
                </a:gridCol>
                <a:gridCol w="1435510">
                  <a:extLst>
                    <a:ext uri="{9D8B030D-6E8A-4147-A177-3AD203B41FA5}">
                      <a16:colId xmlns:a16="http://schemas.microsoft.com/office/drawing/2014/main" val="5504815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Код_тип номера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Кол-во комнат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163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468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634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343532"/>
                  </a:ext>
                </a:extLst>
              </a:tr>
            </a:tbl>
          </a:graphicData>
        </a:graphic>
      </p:graphicFrame>
      <p:sp>
        <p:nvSpPr>
          <p:cNvPr id="10" name="Прямоугольник 9"/>
          <p:cNvSpPr/>
          <p:nvPr/>
        </p:nvSpPr>
        <p:spPr>
          <a:xfrm>
            <a:off x="8496729" y="3242579"/>
            <a:ext cx="2707096" cy="409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«Тип номера»</a:t>
            </a:r>
          </a:p>
        </p:txBody>
      </p:sp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979592"/>
              </p:ext>
            </p:extLst>
          </p:nvPr>
        </p:nvGraphicFramePr>
        <p:xfrm>
          <a:off x="458839" y="2019400"/>
          <a:ext cx="5165213" cy="11163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439">
                  <a:extLst>
                    <a:ext uri="{9D8B030D-6E8A-4147-A177-3AD203B41FA5}">
                      <a16:colId xmlns:a16="http://schemas.microsoft.com/office/drawing/2014/main" val="4002869506"/>
                    </a:ext>
                  </a:extLst>
                </a:gridCol>
                <a:gridCol w="1081548">
                  <a:extLst>
                    <a:ext uri="{9D8B030D-6E8A-4147-A177-3AD203B41FA5}">
                      <a16:colId xmlns:a16="http://schemas.microsoft.com/office/drawing/2014/main" val="2877745391"/>
                    </a:ext>
                  </a:extLst>
                </a:gridCol>
                <a:gridCol w="943897">
                  <a:extLst>
                    <a:ext uri="{9D8B030D-6E8A-4147-A177-3AD203B41FA5}">
                      <a16:colId xmlns:a16="http://schemas.microsoft.com/office/drawing/2014/main" val="1932557536"/>
                    </a:ext>
                  </a:extLst>
                </a:gridCol>
                <a:gridCol w="1563329">
                  <a:extLst>
                    <a:ext uri="{9D8B030D-6E8A-4147-A177-3AD203B41FA5}">
                      <a16:colId xmlns:a16="http://schemas.microsoft.com/office/drawing/2014/main" val="2902045084"/>
                    </a:ext>
                  </a:extLst>
                </a:gridCol>
              </a:tblGrid>
              <a:tr h="374662"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Код_менеджер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Фамилия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Имя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Отчество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751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Медведев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Алексей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Ростиславович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887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Ехов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Михаил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Петрович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819731"/>
                  </a:ext>
                </a:extLst>
              </a:tr>
            </a:tbl>
          </a:graphicData>
        </a:graphic>
      </p:graphicFrame>
      <p:sp>
        <p:nvSpPr>
          <p:cNvPr id="12" name="Прямоугольник 11"/>
          <p:cNvSpPr/>
          <p:nvPr/>
        </p:nvSpPr>
        <p:spPr>
          <a:xfrm>
            <a:off x="3057832" y="1651599"/>
            <a:ext cx="2566220" cy="2951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«Менеджер»</a:t>
            </a:r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2094427"/>
              </p:ext>
            </p:extLst>
          </p:nvPr>
        </p:nvGraphicFramePr>
        <p:xfrm>
          <a:off x="2163097" y="3890509"/>
          <a:ext cx="3460955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194">
                  <a:extLst>
                    <a:ext uri="{9D8B030D-6E8A-4147-A177-3AD203B41FA5}">
                      <a16:colId xmlns:a16="http://schemas.microsoft.com/office/drawing/2014/main" val="3806649090"/>
                    </a:ext>
                  </a:extLst>
                </a:gridCol>
                <a:gridCol w="2182761">
                  <a:extLst>
                    <a:ext uri="{9D8B030D-6E8A-4147-A177-3AD203B41FA5}">
                      <a16:colId xmlns:a16="http://schemas.microsoft.com/office/drawing/2014/main" val="1020856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Код_журнал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Расчёт за проживание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861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424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1996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526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066732"/>
                  </a:ext>
                </a:extLst>
              </a:tr>
            </a:tbl>
          </a:graphicData>
        </a:graphic>
      </p:graphicFrame>
      <p:sp>
        <p:nvSpPr>
          <p:cNvPr id="14" name="Прямоугольник 13"/>
          <p:cNvSpPr/>
          <p:nvPr/>
        </p:nvSpPr>
        <p:spPr>
          <a:xfrm>
            <a:off x="3148410" y="3447105"/>
            <a:ext cx="2707096" cy="409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«Журнал»</a:t>
            </a:r>
          </a:p>
        </p:txBody>
      </p:sp>
    </p:spTree>
    <p:extLst>
      <p:ext uri="{BB962C8B-B14F-4D97-AF65-F5344CB8AC3E}">
        <p14:creationId xmlns:p14="http://schemas.microsoft.com/office/powerpoint/2010/main" val="231232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llAtOnce"/>
      <p:bldP spid="10" grpId="0"/>
      <p:bldP spid="12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>
            <a:spLocks noGrp="1"/>
          </p:cNvSpPr>
          <p:nvPr>
            <p:ph type="title"/>
          </p:nvPr>
        </p:nvSpPr>
        <p:spPr>
          <a:xfrm>
            <a:off x="1061258" y="796412"/>
            <a:ext cx="974020" cy="468221"/>
          </a:xfrm>
        </p:spPr>
        <p:txBody>
          <a:bodyPr/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3НФ: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/>
          <a:srcRect l="120" t="1052" r="142" b="728"/>
          <a:stretch/>
        </p:blipFill>
        <p:spPr>
          <a:xfrm>
            <a:off x="3743959" y="1422261"/>
            <a:ext cx="8043341" cy="1862805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9719335" y="1122684"/>
            <a:ext cx="2067965" cy="2838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«Гости»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8905744" y="3544334"/>
            <a:ext cx="2707096" cy="409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«Журнал»</a:t>
            </a:r>
          </a:p>
        </p:txBody>
      </p:sp>
      <p:graphicFrame>
        <p:nvGraphicFramePr>
          <p:cNvPr id="15" name="Таблица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575637"/>
              </p:ext>
            </p:extLst>
          </p:nvPr>
        </p:nvGraphicFramePr>
        <p:xfrm>
          <a:off x="7895031" y="3953386"/>
          <a:ext cx="3460955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194">
                  <a:extLst>
                    <a:ext uri="{9D8B030D-6E8A-4147-A177-3AD203B41FA5}">
                      <a16:colId xmlns:a16="http://schemas.microsoft.com/office/drawing/2014/main" val="3806649090"/>
                    </a:ext>
                  </a:extLst>
                </a:gridCol>
                <a:gridCol w="2182761">
                  <a:extLst>
                    <a:ext uri="{9D8B030D-6E8A-4147-A177-3AD203B41FA5}">
                      <a16:colId xmlns:a16="http://schemas.microsoft.com/office/drawing/2014/main" val="1020856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Код_журнал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Расчёт за проживание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861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424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1996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526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066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530680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944221" y="712860"/>
            <a:ext cx="4340993" cy="10091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Схема реляционной модели</a:t>
            </a:r>
            <a:endParaRPr lang="ru-RU" sz="9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3560376" y="2057400"/>
            <a:ext cx="5108681" cy="380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099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893421" y="132563"/>
            <a:ext cx="4340993" cy="10091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Схема реляционной модели</a:t>
            </a:r>
            <a:endParaRPr lang="ru-RU" sz="9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21730" y="1293118"/>
            <a:ext cx="4174068" cy="482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Запрос на выборку с параметром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347131" y="1998133"/>
            <a:ext cx="4123265" cy="2336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Режим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гости.Фамилия, гости.Имя, гости.Отчество, гости.[Номер паспорта], гости.[Серия паспорта], гости.[дата приезда], гости.[дата выезда]</a:t>
            </a: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гости</a:t>
            </a:r>
          </a:p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(((гости.[дата приезда])=[введите дату приезда]));</a:t>
            </a:r>
          </a:p>
          <a:p>
            <a:pPr algn="ctr"/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10"/>
          <p:cNvPicPr/>
          <p:nvPr/>
        </p:nvPicPr>
        <p:blipFill>
          <a:blip r:embed="rId2"/>
          <a:stretch>
            <a:fillRect/>
          </a:stretch>
        </p:blipFill>
        <p:spPr>
          <a:xfrm>
            <a:off x="5621867" y="4176934"/>
            <a:ext cx="5528734" cy="1371600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6299200" y="3680071"/>
            <a:ext cx="4174068" cy="482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</a:t>
            </a:r>
          </a:p>
        </p:txBody>
      </p:sp>
      <p:pic>
        <p:nvPicPr>
          <p:cNvPr id="13" name="Рисунок 12"/>
          <p:cNvPicPr/>
          <p:nvPr/>
        </p:nvPicPr>
        <p:blipFill>
          <a:blip r:embed="rId3"/>
          <a:stretch>
            <a:fillRect/>
          </a:stretch>
        </p:blipFill>
        <p:spPr>
          <a:xfrm>
            <a:off x="6541136" y="1835396"/>
            <a:ext cx="4609465" cy="1844675"/>
          </a:xfrm>
          <a:prstGeom prst="rect">
            <a:avLst/>
          </a:prstGeom>
        </p:spPr>
      </p:pic>
      <p:sp>
        <p:nvSpPr>
          <p:cNvPr id="15" name="Прямоугольник 14"/>
          <p:cNvSpPr/>
          <p:nvPr/>
        </p:nvSpPr>
        <p:spPr>
          <a:xfrm>
            <a:off x="6758834" y="1267900"/>
            <a:ext cx="4174068" cy="482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Конструктор:</a:t>
            </a:r>
          </a:p>
        </p:txBody>
      </p:sp>
    </p:spTree>
    <p:extLst>
      <p:ext uri="{BB962C8B-B14F-4D97-AF65-F5344CB8AC3E}">
        <p14:creationId xmlns:p14="http://schemas.microsoft.com/office/powerpoint/2010/main" val="276225208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897467" y="863600"/>
            <a:ext cx="2641598" cy="482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Запрос на выборку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897467" y="1354666"/>
            <a:ext cx="4123265" cy="2336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Режим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гости.Фамилия, гости.Имя, гости.Отчество, журнал.[расчёт за проживание]</a:t>
            </a:r>
          </a:p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журнал INNER JOIN гости ON журнал.Код_журнал = гости.код_журнал;</a:t>
            </a:r>
          </a:p>
          <a:p>
            <a:pPr algn="ctr"/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377265" y="3160022"/>
            <a:ext cx="4174068" cy="3132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</a:t>
            </a:r>
          </a:p>
        </p:txBody>
      </p:sp>
      <p:pic>
        <p:nvPicPr>
          <p:cNvPr id="7" name="Рисунок 6"/>
          <p:cNvPicPr/>
          <p:nvPr/>
        </p:nvPicPr>
        <p:blipFill>
          <a:blip r:embed="rId2"/>
          <a:stretch>
            <a:fillRect/>
          </a:stretch>
        </p:blipFill>
        <p:spPr>
          <a:xfrm>
            <a:off x="4052357" y="3570708"/>
            <a:ext cx="4587875" cy="2076556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3"/>
          <a:stretch>
            <a:fillRect/>
          </a:stretch>
        </p:blipFill>
        <p:spPr>
          <a:xfrm>
            <a:off x="7653444" y="912308"/>
            <a:ext cx="3573780" cy="2199005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7419234" y="429708"/>
            <a:ext cx="4174068" cy="482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Конструктор:</a:t>
            </a:r>
          </a:p>
        </p:txBody>
      </p:sp>
    </p:spTree>
    <p:extLst>
      <p:ext uri="{BB962C8B-B14F-4D97-AF65-F5344CB8AC3E}">
        <p14:creationId xmlns:p14="http://schemas.microsoft.com/office/powerpoint/2010/main" val="302176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897467" y="863600"/>
            <a:ext cx="2641598" cy="482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Итоговый запрос</a:t>
            </a:r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8377237" y="1267908"/>
            <a:ext cx="2146829" cy="2328333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7363617" y="785308"/>
            <a:ext cx="4174068" cy="482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Конструктор: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897467" y="1354666"/>
            <a:ext cx="4123265" cy="17272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Режим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Sum(журнал.[расчёт за проживание]) AS [Sum-расчёт за проживание]</a:t>
            </a:r>
          </a:p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журнал;</a:t>
            </a:r>
          </a:p>
          <a:p>
            <a:pPr algn="ctr"/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/>
          <p:cNvPicPr/>
          <p:nvPr/>
        </p:nvPicPr>
        <p:blipFill rotWithShape="1">
          <a:blip r:embed="rId3"/>
          <a:srcRect t="9937"/>
          <a:stretch/>
        </p:blipFill>
        <p:spPr bwMode="auto">
          <a:xfrm>
            <a:off x="4460664" y="4622800"/>
            <a:ext cx="2405804" cy="57795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Прямоугольник 9"/>
          <p:cNvSpPr/>
          <p:nvPr/>
        </p:nvSpPr>
        <p:spPr>
          <a:xfrm>
            <a:off x="3539065" y="4125222"/>
            <a:ext cx="4174068" cy="3132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</a:t>
            </a:r>
          </a:p>
        </p:txBody>
      </p:sp>
    </p:spTree>
    <p:extLst>
      <p:ext uri="{BB962C8B-B14F-4D97-AF65-F5344CB8AC3E}">
        <p14:creationId xmlns:p14="http://schemas.microsoft.com/office/powerpoint/2010/main" val="3279840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897467" y="863600"/>
            <a:ext cx="3124200" cy="482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 Запрос на добавление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897467" y="1354665"/>
            <a:ext cx="4123265" cy="50546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Режим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INTO [Копия гости] ( Фамилия, Имя, Отчество, [Номер паспорта], [Серия паспорта], [дата приезда], [дата выезда] )</a:t>
            </a:r>
          </a:p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[Введите фамилию гостя] AS Выражение1, [Введите имя гостя] AS Выражение2, [Введите отчество гостя] AS Выражение3, [Введите номер паспорта гостя] AS Выражение4, [Введите серию паспорта гостя] AS Выражение5, [Введите дату приезда гостя] AS Выражение6, [Введите дату выезда гостя] AS Выражение7;</a:t>
            </a:r>
          </a:p>
          <a:p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178284" y="872066"/>
            <a:ext cx="4174068" cy="482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Конструктор: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6178284" y="3879689"/>
            <a:ext cx="4174068" cy="3132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</a:t>
            </a:r>
          </a:p>
        </p:txBody>
      </p:sp>
      <p:pic>
        <p:nvPicPr>
          <p:cNvPr id="8" name="Рисунок 7"/>
          <p:cNvPicPr/>
          <p:nvPr/>
        </p:nvPicPr>
        <p:blipFill>
          <a:blip r:embed="rId2"/>
          <a:stretch>
            <a:fillRect/>
          </a:stretch>
        </p:blipFill>
        <p:spPr>
          <a:xfrm>
            <a:off x="5330402" y="1354665"/>
            <a:ext cx="6620933" cy="927101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 rotWithShape="1">
          <a:blip r:embed="rId3"/>
          <a:srcRect t="20270"/>
          <a:stretch/>
        </p:blipFill>
        <p:spPr bwMode="auto">
          <a:xfrm>
            <a:off x="5330402" y="4326467"/>
            <a:ext cx="5828665" cy="24690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7876555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5741854" y="828686"/>
            <a:ext cx="4174068" cy="482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Конструктор: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6129865" y="4580464"/>
            <a:ext cx="4174068" cy="3132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897467" y="1354665"/>
            <a:ext cx="4123265" cy="35390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Режим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[Копия гости3] SET [Копия гости3].[дата выезда] = #5/15/2022#</a:t>
            </a:r>
          </a:p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((([Копия гости3].[дата приезда])=#5/2/2022#));</a:t>
            </a:r>
          </a:p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[Копия гости3] SET [Копия гости3].[дата приезда] = #4/10/2022#</a:t>
            </a:r>
          </a:p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((([Копия гости3].[дата выезда])=#4/15/2022#));</a:t>
            </a:r>
          </a:p>
          <a:p>
            <a:pPr algn="ctr"/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897467" y="863600"/>
            <a:ext cx="3124200" cy="482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5) Запрос на обновление</a:t>
            </a:r>
          </a:p>
        </p:txBody>
      </p:sp>
      <p:pic>
        <p:nvPicPr>
          <p:cNvPr id="8" name="Рисунок 7"/>
          <p:cNvPicPr/>
          <p:nvPr/>
        </p:nvPicPr>
        <p:blipFill>
          <a:blip r:embed="rId2"/>
          <a:stretch>
            <a:fillRect/>
          </a:stretch>
        </p:blipFill>
        <p:spPr>
          <a:xfrm>
            <a:off x="6510867" y="1354665"/>
            <a:ext cx="2636043" cy="2504016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 rotWithShape="1">
          <a:blip r:embed="rId3"/>
          <a:srcRect t="1133"/>
          <a:stretch/>
        </p:blipFill>
        <p:spPr>
          <a:xfrm>
            <a:off x="4745883" y="4980490"/>
            <a:ext cx="6510233" cy="110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758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715542" y="4129268"/>
            <a:ext cx="4174068" cy="3132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7363617" y="785308"/>
            <a:ext cx="4174068" cy="482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Конструктор: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897467" y="1354666"/>
            <a:ext cx="4123265" cy="32935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Режим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[Копия гости2].Фамилия, [Копия гости2].Имя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[Копия гости2]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((([Копия гости2].Фамилия)=[Введите фамилию гостя])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(([Копия гости2].Имя)=[Введите имя гостя]));</a:t>
            </a:r>
          </a:p>
          <a:p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897467" y="863600"/>
            <a:ext cx="3124200" cy="482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6) Запрос на удаление</a:t>
            </a:r>
          </a:p>
        </p:txBody>
      </p:sp>
      <p:pic>
        <p:nvPicPr>
          <p:cNvPr id="8" name="Рисунок 7"/>
          <p:cNvPicPr/>
          <p:nvPr/>
        </p:nvPicPr>
        <p:blipFill>
          <a:blip r:embed="rId2"/>
          <a:stretch>
            <a:fillRect/>
          </a:stretch>
        </p:blipFill>
        <p:spPr>
          <a:xfrm>
            <a:off x="8145461" y="1263489"/>
            <a:ext cx="2610379" cy="2861733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 rotWithShape="1">
          <a:blip r:embed="rId3"/>
          <a:srcRect b="2750"/>
          <a:stretch/>
        </p:blipFill>
        <p:spPr bwMode="auto">
          <a:xfrm>
            <a:off x="2459567" y="4603403"/>
            <a:ext cx="6878531" cy="107386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984872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539065" y="3505200"/>
            <a:ext cx="4174068" cy="3132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7363617" y="785308"/>
            <a:ext cx="4174068" cy="482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Конструктор: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897467" y="1354666"/>
            <a:ext cx="4123265" cy="2336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Режим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 Min(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гости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Фамилия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AS [Min-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Фамилия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ru-RU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гости.[дата приезда]</a:t>
            </a:r>
          </a:p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гости</a:t>
            </a:r>
          </a:p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гости.[дата приезда]</a:t>
            </a:r>
          </a:p>
          <a:p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PIVOT гости.[дата выезда];</a:t>
            </a:r>
          </a:p>
          <a:p>
            <a:pPr algn="ctr"/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897467" y="863600"/>
            <a:ext cx="3124200" cy="482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7) Перекрёстный запрос</a:t>
            </a:r>
          </a:p>
        </p:txBody>
      </p:sp>
      <p:pic>
        <p:nvPicPr>
          <p:cNvPr id="8" name="Рисунок 7"/>
          <p:cNvPicPr/>
          <p:nvPr/>
        </p:nvPicPr>
        <p:blipFill>
          <a:blip r:embed="rId2"/>
          <a:stretch>
            <a:fillRect/>
          </a:stretch>
        </p:blipFill>
        <p:spPr>
          <a:xfrm>
            <a:off x="7783776" y="1267908"/>
            <a:ext cx="2816491" cy="2237292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3"/>
          <a:stretch>
            <a:fillRect/>
          </a:stretch>
        </p:blipFill>
        <p:spPr>
          <a:xfrm>
            <a:off x="2544868" y="3886202"/>
            <a:ext cx="6421332" cy="222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088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698657" y="4633452"/>
            <a:ext cx="3696059" cy="1371599"/>
          </a:xfrm>
        </p:spPr>
        <p:txBody>
          <a:bodyPr>
            <a:normAutofit fontScale="77500" lnSpcReduction="20000"/>
          </a:bodyPr>
          <a:lstStyle/>
          <a:p>
            <a:r>
              <a:rPr lang="ru-RU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Выполнила:</a:t>
            </a:r>
          </a:p>
          <a:p>
            <a:r>
              <a:rPr lang="ru-RU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Студентка группы ИСП.20А</a:t>
            </a:r>
          </a:p>
          <a:p>
            <a:r>
              <a:rPr lang="ru-RU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Суханова Екатерина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222090" y="353961"/>
            <a:ext cx="7128387" cy="16813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585884" y="1877961"/>
            <a:ext cx="7246374" cy="21532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Итоговый проект на тему:</a:t>
            </a:r>
            <a:br>
              <a:rPr lang="ru-RU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«Моделирование бизнес-процессов гостиницы»</a:t>
            </a:r>
            <a:endParaRPr lang="ru-RU" sz="4800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612490" y="609600"/>
            <a:ext cx="8681884" cy="1002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Ликино-Дулёвский политехнический колледж – филиал ГГТУ </a:t>
            </a:r>
          </a:p>
        </p:txBody>
      </p:sp>
    </p:spTree>
    <p:extLst>
      <p:ext uri="{BB962C8B-B14F-4D97-AF65-F5344CB8AC3E}">
        <p14:creationId xmlns:p14="http://schemas.microsoft.com/office/powerpoint/2010/main" val="1594011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Капля">
  <a:themeElements>
    <a:clrScheme name="Капля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Капля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апля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Капля</Template>
  <TotalTime>222</TotalTime>
  <Words>573</Words>
  <Application>Microsoft Office PowerPoint</Application>
  <PresentationFormat>Широкоэкранный</PresentationFormat>
  <Paragraphs>118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4" baseType="lpstr">
      <vt:lpstr>Arial</vt:lpstr>
      <vt:lpstr>Times New Roman</vt:lpstr>
      <vt:lpstr>Tw Cen MT</vt:lpstr>
      <vt:lpstr>Капля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2НФ:</vt:lpstr>
      <vt:lpstr>3НФ: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Екатерина Суханова</dc:creator>
  <cp:lastModifiedBy>Студент</cp:lastModifiedBy>
  <cp:revision>28</cp:revision>
  <dcterms:created xsi:type="dcterms:W3CDTF">2022-05-18T14:37:15Z</dcterms:created>
  <dcterms:modified xsi:type="dcterms:W3CDTF">2022-05-21T06:01:06Z</dcterms:modified>
</cp:coreProperties>
</file>